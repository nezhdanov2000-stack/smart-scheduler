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B3A"/>
                </a:solidFill>
                <a:latin typeface="+mn-lt"/>
              </a:rPr>
              <a:t>Accuracy on 120 real Telegram messages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Single-model baseline</c:v>
                </c:pt>
              </c:strCache>
            </c:strRef>
          </c:tx>
          <c:spPr>
            <a:solidFill>
              <a:srgbClr val="B8C4C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Intent recognition</c:v>
                  </c:pt>
                  <c:pt idx="1">
                    <c:v>Entity extraction</c:v>
                  </c:pt>
                  <c:pt idx="2">
                    <c:v>API command validity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78</c:v>
                </c:pt>
                <c:pt idx="2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Three-stage pipeline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Intent recognition</c:v>
                  </c:pt>
                  <c:pt idx="1">
                    <c:v>Entity extraction</c:v>
                  </c:pt>
                  <c:pt idx="2">
                    <c:v>API command validity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92</c:v>
                </c:pt>
                <c:pt idx="2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B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9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CC"/>
                </a:solidFill>
              </a:rPr>
              <a:t>CSC357 AI Capstone Project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B2B3A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</a:rPr>
              <a:t>CSC357 AI Capstone · Smart Scheduler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858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Smart Scheduler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CE"/>
                </a:solidFill>
              </a:rPr>
              <a:t>A Telegram bot that turns chat messages into Google Calendar events with GPT-4o-mini and n8n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CC"/>
                </a:solidFill>
              </a:rPr>
              <a:t>Based on the paper: "LLM-Driven Automation System for Smart Scheduling Using n8n and Messaging Platforms" — Nezhdanov et al., APSIPA ASC 2026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Gleb Nezhdanov · Student ID 2411070001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[University]  ·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8074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A2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Problem and motivation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80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38074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A2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280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38074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A2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Three-stage GPT-4o-mini pipeline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02666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774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A2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Orchestration with n8n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29184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2926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02666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12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A2F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The Telegram bot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12648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9360" y="29260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026664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0467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A2F"/>
                </a:solidFill>
              </a:rPr>
              <a:t>6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Results and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Problem and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3502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Meetings are planned in chats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People agree on meetings in Telegram or Slack, then add them to the calendar by hand. This takes time and causes mistakes.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344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33502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Rule-based tools do not understand people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Zapier and Make need fixed patterns. "After lunch" or "next Friday" breaks them.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0515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2344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33502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One big LLM call is not reliable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</a:rPr>
              <a:t>If one model must filter, extract and write JSON at once, it often invents fields or breaks the format.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2160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35204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Goal: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turn a chat message into a correct calendar event — reliably, with no manual 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Related Work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3A"/>
                          </a:solidFill>
                        </a:rPr>
                        <a:t>Zapier / Make — iPaaS [3]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No-code automation with rule-based connectors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Needs structured input; no language understanding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3A"/>
                          </a:solidFill>
                        </a:rPr>
                        <a:t>n8n benchmarks [2]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Open-source workflow engine, reliability &gt; 95 %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No NLP layer; triggers are rule-based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3A"/>
                          </a:solidFill>
                        </a:rPr>
                        <a:t>LangChain [5]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Framework to chain LLM calls and tools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No scheduling pipeline; a lot of custom work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3A"/>
                          </a:solidFill>
                        </a:rPr>
                        <a:t>Chain-of-Thought [6]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Step-by-step reasoning improves accuracy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Only a prompting trick, not a full system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B3A"/>
                          </a:solidFill>
                        </a:rPr>
                        <a:t>Decomposed prompting [13]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Split a complex task into simple sub-tasks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General method; not applied to calendars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673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36118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A"/>
                </a:solidFill>
              </a:rPr>
              <a:t>The gap: </a:t>
            </a:r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no system combines decomposed LLM steps with a workflow engine for real chat scheduling, and nobody measured hallucinated JSON in this task.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3"/>
                </a:solidFill>
              </a:rPr>
              <a:t>Reference numbers follow the paper (Nezhdanov et al., APSIPA ASC 2026, Table I).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083"/>
                </a:solidFill>
              </a:rPr>
              <a:t>External cloud APIs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35608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5361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A"/>
                </a:solidFill>
              </a:rPr>
              <a:t>Telegram Bot API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09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messages in, replies out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87168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877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A"/>
                </a:solidFill>
              </a:rPr>
              <a:t>OpenAI API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7614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GPT-4o-mini, 3 calls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538728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63931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A"/>
                </a:solidFill>
              </a:rPr>
              <a:t>Google Calendar API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3813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create / update / delete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023360" y="960120"/>
            <a:ext cx="4663440" cy="3337560"/>
          </a:xfrm>
          <a:prstGeom prst="roundRect">
            <a:avLst>
              <a:gd name="adj" fmla="val 2192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20624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083"/>
                </a:solidFill>
              </a:rPr>
              <a:t>Your laptop (self-hosted)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297680" y="14173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6002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0292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n8n workflow engine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3CE"/>
                </a:solidFill>
              </a:rPr>
              <a:t>Runs the three-stage pipeline and decides what happens next. One process, SQLite database.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283464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0175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292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</a:rPr>
              <a:t>Encrypted credential store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02920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</a:rPr>
              <a:t>API keys and tokens are stored encrypted inside n8n. They never appear in logs or workflow output.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926080" y="1709928"/>
            <a:ext cx="1005840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 flipH="1">
            <a:off x="2926080" y="1856232"/>
            <a:ext cx="1005840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2926080" y="2761488"/>
            <a:ext cx="1005840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 flipH="1">
            <a:off x="2926080" y="2907792"/>
            <a:ext cx="1005840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2926080" y="3813048"/>
            <a:ext cx="1005840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 flipH="1">
            <a:off x="2926080" y="3959352"/>
            <a:ext cx="1005840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2944368" y="1325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083"/>
                </a:solidFill>
              </a:rPr>
              <a:t>webhook (HTTPS)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2944368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083"/>
                </a:solidFill>
              </a:rPr>
              <a:t>REST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2944368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083"/>
                </a:solidFill>
              </a:rPr>
              <a:t>REST + OAuth 2.0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3"/>
                </a:solidFill>
              </a:rPr>
              <a:t>The paper uses Redis and Docker for production load; this capstone demo uses a simpler single-process setup.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The Three-Stage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Message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from Telegram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92808" y="1737360"/>
            <a:ext cx="23774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48840" y="11430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344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filter + normalise time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584448" y="1737360"/>
            <a:ext cx="23774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840480" y="11430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34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4048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2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88620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classify + extract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276088" y="1737360"/>
            <a:ext cx="23774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532120" y="11430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2344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3212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3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57784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build + validate JSON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967728" y="1737360"/>
            <a:ext cx="23774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223760" y="11430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2344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2376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Calendar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26948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event created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2862072" y="2350008"/>
            <a:ext cx="9144" cy="484632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2331720" y="283464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233172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083"/>
                </a:solidFill>
              </a:rPr>
              <a:t>not a meeting → stop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3611880" y="2514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Each stage is one GPT-4o-mini call with its own short prompt. n8n, not the model, decides the next step.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</a:rPr>
              <a:t>Why split the task into three steps?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57200" y="3639312"/>
            <a:ext cx="475488" cy="475488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73989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5156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A"/>
                </a:solidFill>
              </a:rPr>
              <a:t>One job per model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051560" y="3895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</a:rPr>
              <a:t>A simple task means fewer invented fields.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291840" y="3639312"/>
            <a:ext cx="475488" cy="475488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739896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88620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A"/>
                </a:solidFill>
              </a:rPr>
              <a:t>Early exit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3886200" y="3895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</a:rPr>
              <a:t>Normal chat stops after Stage 1 — cheap.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126480" y="3639312"/>
            <a:ext cx="475488" cy="475488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739896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72084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A"/>
                </a:solidFill>
              </a:rPr>
              <a:t>Easy to fix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6720840" y="3895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</a:rPr>
              <a:t>Change one prompt without touching the others.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Stage 1 and Stage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43584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A"/>
                </a:solidFill>
              </a:rPr>
              <a:t>Stage 1 — Filter and normalise time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Is this a scheduling message? (yes / no)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If yes, turn every time phrase into ISO 8601.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" y="2331720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B3A"/>
                </a:solidFill>
              </a:rPr>
              <a:t>"Let's meet tomorrow after lunch"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41448" y="2852928"/>
            <a:ext cx="9144" cy="274320"/>
          </a:xfrm>
          <a:prstGeom prst="line">
            <a:avLst/>
          </a:prstGeom>
          <a:noFill/>
          <a:ln w="22225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94360" y="3154680"/>
            <a:ext cx="3703320" cy="502920"/>
          </a:xfrm>
          <a:prstGeom prst="roundRect">
            <a:avLst>
              <a:gd name="adj" fmla="val 1454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154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lunch  →  2025-06-16T13:00:00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3"/>
                </a:solidFill>
              </a:rPr>
              <a:t>Example from the paper (Section IV-D).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1430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24358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4068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A"/>
                </a:solidFill>
              </a:rPr>
              <a:t>Stage 2 — Classify and extract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846320" y="16916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46320" y="1691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852160" y="16916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52160" y="1691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3A"/>
                </a:solidFill>
              </a:rPr>
              <a:t>modify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858000" y="16916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0" y="1691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B3A"/>
                </a:solidFill>
              </a:rPr>
              <a:t>cancel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2057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</a:rPr>
              <a:t>Fields: title · start / end · location · participants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46320" y="23774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983480" y="24688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"intent": "create",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"entities":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"event_title": "Project Timeline Review",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"start_datetime": "2025-06-16T13:00:00",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"end_datetime":   "2025-06-16T14:00:00",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"participants": ["Anna"] } }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4983480" y="3493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FD3CE"/>
                </a:solidFill>
              </a:rPr>
              <a:t>simplified example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846320" y="3794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083"/>
                </a:solidFill>
              </a:rPr>
              <a:t>No end time? The model adds 60 minutes.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3"/>
                </a:solidFill>
              </a:rPr>
              <a:t>No model was trained or fine-tuned: zero-shot prompts, temperature = 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Stage 3 and Connecting GPT-4o-mini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" cy="512064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06424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A"/>
                </a:solidFill>
              </a:rPr>
              <a:t>Stage 3 — Build and validate JSON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</a:rPr>
              <a:t>The model only converts Stage 2 data into a Google Calendar request. No reasoning — less room for mistakes.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103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Calendar JSON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18488" y="2350008"/>
            <a:ext cx="19202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828800" y="210312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0" y="2103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 check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90088" y="2350008"/>
            <a:ext cx="19202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00400" y="210312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0" y="2103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Calendar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880360" y="21305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083"/>
                </a:solidFill>
              </a:rPr>
              <a:t>ok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95728" y="2624328"/>
            <a:ext cx="9144" cy="393192"/>
          </a:xfrm>
          <a:prstGeom prst="line">
            <a:avLst/>
          </a:prstGeom>
          <a:noFill/>
          <a:ln w="22225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188720" y="301752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3444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invalid → retry with the error text added to the prompt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 flipH="1">
            <a:off x="822960" y="3264408"/>
            <a:ext cx="365760" cy="9144"/>
          </a:xfrm>
          <a:prstGeom prst="line">
            <a:avLst/>
          </a:prstGeom>
          <a:noFill/>
          <a:ln w="22225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822960" y="2651760"/>
            <a:ext cx="9144" cy="612648"/>
          </a:xfrm>
          <a:prstGeom prst="line">
            <a:avLst/>
          </a:prstGeom>
          <a:noFill/>
          <a:ln w="22225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</a:rPr>
              <a:t>Checks: allowed fields only, valid ISO dates, end after start, valid e-mails.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1005840"/>
            <a:ext cx="512064" cy="512064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106424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25780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A"/>
                </a:solidFill>
              </a:rPr>
              <a:t>One stage = one API call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4663440" y="146304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80060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1 call (same shape for Stage 2 and 3)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 = await fetch(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"https://api.openai.com/v1/chat/completions",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Authorization: `Bearer ${KEY}` },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"gpt-4o-mini",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temperature: 0,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response_format: { type: "json_object" },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[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role: "system", content: STAGE1_PROMPT },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role: "user",   content: message } ] })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out = JSON.parse((await r.json())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.choices[0].message.content);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4800600" y="3904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FD3CE"/>
                </a:solidFill>
              </a:rPr>
              <a:t>simplified example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3"/>
                </a:solidFill>
              </a:rPr>
              <a:t>In n8n the key is not in the code: the HTTP node reads it from the encrypted credential store.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Orchestration with n8n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3"/>
                </a:solidFill>
              </a:rPr>
              <a:t>n8n is an open-source tool where a workflow is a chain of nodes. Each node does one small job and passes its result to the next one.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916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Telegram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Trigger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481328" y="2148840"/>
            <a:ext cx="14630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64592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69164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670048" y="2148840"/>
            <a:ext cx="14630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83464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69164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3464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858768" y="2148840"/>
            <a:ext cx="14630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02336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6916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02336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047488" y="2148840"/>
            <a:ext cx="14630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21208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169164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1208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Google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Calendar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236208" y="2148840"/>
            <a:ext cx="14630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40080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169164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40080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Confirm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Telegram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7424928" y="2148840"/>
            <a:ext cx="14630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7589520" y="1600200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169164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8952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</a:t>
            </a:r>
            <a:endParaRPr 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</a:rPr>
              <a:t>Between the LLM nodes, small IF nodes check the result: not a meeting → stop; invalid JSON → retry; valid → send to the calendar.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57200" y="3429000"/>
            <a:ext cx="475488" cy="475488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" y="3529584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51560" y="3429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Credentials stay encrypted inside n8n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3291840" y="3429000"/>
            <a:ext cx="475488" cy="475488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2424" y="3529584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886200" y="3429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Every external call retries on failure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6126480" y="3429000"/>
            <a:ext cx="475488" cy="475488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529584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720840" y="3429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Every run can be opened and inspected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457200" y="406908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594360" y="4069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B3A"/>
                </a:solidFill>
              </a:rPr>
              <a:t>We used AI assistance to design the n8n workflow structure, since this was not covered in our coursework.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The Telegram Bot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03327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4632" y="137160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3A"/>
                </a:solidFill>
              </a:rPr>
              <a:t>User writes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B3A"/>
                </a:solidFill>
              </a:rPr>
              <a:t>in the chat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1389888" y="1463040"/>
            <a:ext cx="10058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508760" y="96012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03327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36192" y="137160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3A"/>
                </a:solidFill>
              </a:rPr>
              <a:t>Telegram sends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B3A"/>
                </a:solidFill>
              </a:rPr>
              <a:t>a webhook (HTTPS)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441448" y="1463040"/>
            <a:ext cx="10058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560320" y="96012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103327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587752" y="137160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n8n runs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pipeline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493008" y="1463040"/>
            <a:ext cx="100584" cy="9144"/>
          </a:xfrm>
          <a:prstGeom prst="line">
            <a:avLst/>
          </a:prstGeom>
          <a:noFill/>
          <a:ln w="22225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3611880" y="96012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103327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39312" y="137160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B3A"/>
                </a:solidFill>
              </a:rPr>
              <a:t>Bot replies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B3A"/>
                </a:solidFill>
              </a:rPr>
              <a:t>a confirmation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234086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24128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Meeting found → event created and a reply with date, time and link.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02666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24128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Normal chat → the bot stays silent. No spam in the group.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3712464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24128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The bot token is stored encrypted in n8n.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4754880" y="960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4892040" y="1051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incoming webhook payload (Telegram → n8n)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"message": {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"message_id": 42,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"chat": { "id": 845660052 },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"from": { "first_name": "Gleb" },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"Let's meet tomorrow at 4pm" } }</a:t>
            </a:r>
            <a:endParaRPr lang="en-US" sz="950" dirty="0"/>
          </a:p>
        </p:txBody>
      </p:sp>
      <p:sp>
        <p:nvSpPr>
          <p:cNvPr id="29" name="Text 20"/>
          <p:cNvSpPr txBox="1"/>
          <p:nvPr/>
        </p:nvSpPr>
        <p:spPr>
          <a:xfrm>
            <a:off x="4892040" y="2075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FD3CE"/>
                </a:solidFill>
              </a:rPr>
              <a:t>simplified example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4754880" y="24688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4892040" y="2560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reply (n8n → Telegram Bot API)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https://api.telegram.org/bot&lt;TOKEN&gt;/sendMessage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"chat_id": 845660052,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"reply_to_message_id": 42,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"✅ Added to calendar: Budget Review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Tue 22 Sep, 16:00 – 17:00" }</a:t>
            </a:r>
            <a:endParaRPr lang="en-US" sz="950" dirty="0"/>
          </a:p>
        </p:txBody>
      </p:sp>
      <p:sp>
        <p:nvSpPr>
          <p:cNvPr id="32" name="Text 23"/>
          <p:cNvSpPr txBox="1"/>
          <p:nvPr/>
        </p:nvSpPr>
        <p:spPr>
          <a:xfrm>
            <a:off x="4892040" y="3767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FD3CE"/>
                </a:solidFill>
              </a:rPr>
              <a:t>simplified example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Results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937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91440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5156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87568" y="1371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A"/>
                </a:solidFill>
              </a:rPr>
              <a:t>20 → 6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687568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</a:rPr>
              <a:t>manual corrections (−70%)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7178040" y="91440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5156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287768" y="1371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A"/>
                </a:solidFill>
              </a:rPr>
              <a:t>4.2 s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7287768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</a:rPr>
              <a:t>mean end-to-end latency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577840" y="260604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7432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687568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A"/>
                </a:solidFill>
              </a:rPr>
              <a:t>&gt; 98 %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5687568" y="3566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</a:rPr>
              <a:t>orchestration reliability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7178040" y="2606040"/>
            <a:ext cx="1463040" cy="150876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74320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287768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A"/>
                </a:solidFill>
              </a:rPr>
              <a:t>≈ $0.002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7287768" y="3566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</a:rPr>
              <a:t>cost per scheduling request</a:t>
            </a:r>
            <a:endParaRPr lang="en-US" sz="95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3"/>
                </a:solidFill>
              </a:rPr>
              <a:t>Source: Nezhdanov et al., APSIPA ASC 2026, Tables IV–VI. Baseline = one GPT-4o-mini call doing all three tasks at once.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A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7899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Contribution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459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A three-stage GPT-4o-mini pipeline on n8n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Each model has one job → fewer hallucinations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Working Telegram → Google Calendar system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Self-hosted, keys stored encrypted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9601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5B7083"/>
          </a:solidFill>
          <a:ln w="12700">
            <a:solidFill>
              <a:srgbClr val="5B708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7899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3192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9184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29000" y="16459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English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120 messages from one group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Single experimental run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No clarifying questions to the user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9601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789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2648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263640" y="16459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Multi-agent reasoning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Clarification dialogue with MCP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Southeast Asian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</a:rPr>
              <a:t>Larger, multi-context evaluation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75"/>
                </a:solidFill>
              </a:rPr>
              <a:t>Thank you —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Scheduler">
  <a:themeElements>
    <a:clrScheme name="Smart Scheduler">
      <a:dk1>
        <a:srgbClr val="1B2B3A"/>
      </a:dk1>
      <a:lt1>
        <a:srgbClr val="FFFFFF"/>
      </a:lt1>
      <a:dk2>
        <a:srgbClr val="0B7A75"/>
      </a:dk2>
      <a:lt2>
        <a:srgbClr val="EAF4F3"/>
      </a:lt2>
      <a:accent1>
        <a:srgbClr val="0B7A75"/>
      </a:accent1>
      <a:accent2>
        <a:srgbClr val="E07A2F"/>
      </a:accent2>
      <a:accent3>
        <a:srgbClr val="5B7083"/>
      </a:accent3>
      <a:accent4>
        <a:srgbClr val="B8C4CC"/>
      </a:accent4>
      <a:accent5>
        <a:srgbClr val="1E1E2E"/>
      </a:accent5>
      <a:accent6>
        <a:srgbClr val="9FD3CE"/>
      </a:accent6>
      <a:hlink>
        <a:srgbClr val="0B7A75"/>
      </a:hlink>
      <a:folHlink>
        <a:srgbClr val="0B7A75"/>
      </a:folHlink>
    </a:clrScheme>
    <a:fontScheme name="Smart Schedul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Scheduler</dc:title>
  <dc:subject>PptxGenJS Presentation</dc:subject>
  <dc:creator>Gleb Nezhdanov</dc:creator>
  <cp:lastModifiedBy>Gleb Nezhdanov</cp:lastModifiedBy>
  <cp:revision>1</cp:revision>
  <dcterms:created xsi:type="dcterms:W3CDTF">2026-10-08T00:52:43Z</dcterms:created>
  <dcterms:modified xsi:type="dcterms:W3CDTF">2026-10-08T00:52:43Z</dcterms:modified>
</cp:coreProperties>
</file>